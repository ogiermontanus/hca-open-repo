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327" r:id="rId5"/>
    <p:sldId id="328" r:id="rId6"/>
    <p:sldId id="329" r:id="rId7"/>
    <p:sldId id="330" r:id="rId8"/>
    <p:sldId id="331" r:id="rId9"/>
    <p:sldId id="334" r:id="rId10"/>
    <p:sldId id="332" r:id="rId11"/>
    <p:sldId id="333" r:id="rId1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FFF2"/>
    <a:srgbClr val="F4B898"/>
    <a:srgbClr val="9CF3FB"/>
    <a:srgbClr val="FFFFFF"/>
    <a:srgbClr val="FFF7E1"/>
    <a:srgbClr val="FEF0E3"/>
    <a:srgbClr val="E1EFF7"/>
    <a:srgbClr val="D1FAE5"/>
    <a:srgbClr val="6FB656"/>
    <a:srgbClr val="A8A8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01" autoAdjust="0"/>
    <p:restoredTop sz="94640" autoAdjust="0"/>
  </p:normalViewPr>
  <p:slideViewPr>
    <p:cSldViewPr snapToGrid="0">
      <p:cViewPr varScale="1">
        <p:scale>
          <a:sx n="85" d="100"/>
          <a:sy n="85" d="100"/>
        </p:scale>
        <p:origin x="701" y="62"/>
      </p:cViewPr>
      <p:guideLst/>
    </p:cSldViewPr>
  </p:slideViewPr>
  <p:outlineViewPr>
    <p:cViewPr>
      <p:scale>
        <a:sx n="33" d="100"/>
        <a:sy n="33" d="100"/>
      </p:scale>
      <p:origin x="0" y="-4662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ls Holger Németh Berg" userId="27c146df-95c1-4d3b-97d6-5fc150f16e52" providerId="ADAL" clId="{FE75E8C0-AA49-498B-AE90-F1FA6D11ECA7}"/>
    <pc:docChg chg="delSld">
      <pc:chgData name="Nils Holger Németh Berg" userId="27c146df-95c1-4d3b-97d6-5fc150f16e52" providerId="ADAL" clId="{FE75E8C0-AA49-498B-AE90-F1FA6D11ECA7}" dt="2026-06-19T06:29:58.813" v="1" actId="47"/>
      <pc:docMkLst>
        <pc:docMk/>
      </pc:docMkLst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746246967" sldId="278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3852421974" sldId="279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4139566268" sldId="293"/>
        </pc:sldMkLst>
      </pc:sldChg>
      <pc:sldChg chg="del">
        <pc:chgData name="Nils Holger Németh Berg" userId="27c146df-95c1-4d3b-97d6-5fc150f16e52" providerId="ADAL" clId="{FE75E8C0-AA49-498B-AE90-F1FA6D11ECA7}" dt="2026-06-19T06:29:58.813" v="1" actId="47"/>
        <pc:sldMkLst>
          <pc:docMk/>
          <pc:sldMk cId="1610848639" sldId="303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3771288793" sldId="304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267564975" sldId="305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3782284075" sldId="306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3224797109" sldId="307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845724646" sldId="308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2678634806" sldId="311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4047923864" sldId="312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186648324" sldId="313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2496027108" sldId="314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440169164" sldId="315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1082003012" sldId="316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2248928627" sldId="317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3795122866" sldId="319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1743683690" sldId="320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4005524824" sldId="321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1203948740" sldId="322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3184129304" sldId="323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1662633702" sldId="324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1194540881" sldId="325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4014357759" sldId="326"/>
        </pc:sldMkLst>
      </pc:sldChg>
      <pc:sldChg chg="del">
        <pc:chgData name="Nils Holger Németh Berg" userId="27c146df-95c1-4d3b-97d6-5fc150f16e52" providerId="ADAL" clId="{FE75E8C0-AA49-498B-AE90-F1FA6D11ECA7}" dt="2026-06-19T06:29:52.343" v="0" actId="47"/>
        <pc:sldMkLst>
          <pc:docMk/>
          <pc:sldMk cId="811717300" sldId="33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AB366-5E1A-41F1-AD38-157DA8EF86B4}" type="datetimeFigureOut">
              <a:rPr lang="da-DK" smtClean="0"/>
              <a:t>19-06-2026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9E811D-BDC6-439D-823F-33F66A804F6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00866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C0EB-3DC1-CFFD-CCCB-2359F7700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27E791-08B1-6FEF-5655-45748A7E8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B35AF-6FDC-ADFB-8792-C34176FD6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19-06-2026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5FF69-6B5A-7C92-23D3-8F58C41A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FFCF-A0E7-464D-8F18-BAEF8E495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19440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4B4D-0755-A0CB-5989-474B21ED6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F20AF-41F9-E49A-FD08-2D72ED04A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1E48D-37A6-3721-8DFB-65A70C7C4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19-06-2026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35C1A-6D67-1B63-DC2B-C33595AE2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DAC92-328C-17C8-84C9-DDBCC481B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0259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BBD09-A5B1-5ADB-831B-C37C33EC5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33114-DE1D-0D7A-1E94-38F68B50C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8CC9-7FFF-CE1D-7E93-6039A56CC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19-06-2026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8B460-9F7F-453E-4617-11D3F48B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FD717-7B0D-9822-5521-FC64D1D4F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788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D2B7E-0A69-7435-3B99-80586BB1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850DC-C745-CB2C-FB5A-BA1338BEA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40F99-139C-0832-6865-3BD55A36E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3C480-1375-5FD8-DA25-3D597D0F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19-06-2026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D4998-E9EF-615F-AB18-5F344C8C3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EA8BC-F921-AA0D-9509-94E2A1B07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9047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7CDD9-D6FA-F3DA-361E-63AD46F16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AF81D-3848-9CD0-D4D7-45EA336DE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16A30-0543-40FE-7E72-5350A550D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08CAD1-CDD4-9078-E26F-0FBE53829A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98A704-A00F-5DDB-423C-2C570D05B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E9A8A9-5847-9556-7894-3D44C94E8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19-06-2026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A79D93-793D-E7B6-9884-4A602205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337011-310B-EED9-ADE3-ABC5C6773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6374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2D84B-F233-38EC-341B-1BB7B8EB3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58B1B2-5A32-E26B-5DE8-EA99278D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19-06-2026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77D0BD-D79E-F7D1-3CFE-DBC991C95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D38F2C-E3F6-FAB3-2560-D7CBD9894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390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4407F6-8275-2F55-96D7-F7ABE1DB3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19-06-2026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EB626-0B48-789A-36A1-410A51C2F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5BC36-46F7-94DA-43BA-6638F8E6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33443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F492-99AF-05AE-57BB-42993E46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F134C-A461-F5BD-4B46-E0DC6447B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0A70F-DD93-582C-C569-68BB7AF6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61926-7FF8-49A8-B4EB-BACA780D9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19-06-2026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6FC53-A61B-7BF0-946E-E908A64FC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82FA8-D5A6-96B2-7B1E-FD0BB60F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9326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B67A-3BC9-13A4-B640-4B72BDB3A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9F570F-93B1-7F4E-F678-57F17428B6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EE929-75C4-15A7-3B6A-D8F986985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95DFF-EE23-0E25-5035-638AB3217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19-06-2026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42F36-40F1-CAF0-1B20-8C29CADD2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CB2F8-A8BF-EBAF-8B03-48B05B7C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42116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D024B-6842-6C47-BB6E-4CE405EA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8D493-B72A-E811-559D-A02FFBCE5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62BB1-D16A-D5A5-199E-787DAE65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19-06-2026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BA6E4-1DA1-2B72-7292-188C46827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C23AA-FFBC-5219-F64D-CDB587100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66522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77E07A-9827-76F8-0DFE-70F519E80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A2065-7445-53AF-65C6-698C3E942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07B0F-0ABC-1D55-9C9D-84AE2E080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19-06-2026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AFB5C-7D19-BFB3-5A7F-6EB0DC2A6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DD6EB-5D34-D5DE-CCA7-43D71370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72402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F08AC2-3CBA-FCD9-5B60-F26D505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E5C9E-96C0-5C13-E917-A41CFE229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0DA5-F85E-DF22-BBB2-1E441871DA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96B401-6240-4B44-8566-11909E9018FD}" type="datetimeFigureOut">
              <a:rPr lang="da-DK" smtClean="0"/>
              <a:t>19-06-2026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0E48C-F72C-77B1-799A-98D0F052D6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8CDBC-9580-BD84-EA8F-F88D721ED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81587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29849-BE08-13E8-2AF4-8DAFCDFC8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Noter til </a:t>
            </a:r>
            <a:r>
              <a:rPr lang="da-DK" dirty="0" err="1"/>
              <a:t>MockUp</a:t>
            </a:r>
            <a:endParaRPr lang="da-DK" dirty="0"/>
          </a:p>
        </p:txBody>
      </p:sp>
      <p:pic>
        <p:nvPicPr>
          <p:cNvPr id="5" name="Picture 4" descr="H.C. Andersen's Register,&#10;&#10;AI-generated content may be incorrect.">
            <a:extLst>
              <a:ext uri="{FF2B5EF4-FFF2-40B4-BE49-F238E27FC236}">
                <a16:creationId xmlns:a16="http://schemas.microsoft.com/office/drawing/2014/main" id="{1CA31376-CB36-94FB-8EF8-11A7EB308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00" y="2072940"/>
            <a:ext cx="4404924" cy="247777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Agnete and the Giant.&#10;&#10;AI-generated content may be incorrect.">
            <a:extLst>
              <a:ext uri="{FF2B5EF4-FFF2-40B4-BE49-F238E27FC236}">
                <a16:creationId xmlns:a16="http://schemas.microsoft.com/office/drawing/2014/main" id="{4BE65C50-3B37-E6ED-80AB-0182260E4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444" y="3429000"/>
            <a:ext cx="4156768" cy="233818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The image contains a structured list of entries, possibly a database or catalog, with columns for various attributes such as nationality, occupation, and additional information. Each entry includes a unique identifier, a person's name, and other details like date, language, and related categories.&#10;&#10;AI-generated content may be incorrect.">
            <a:extLst>
              <a:ext uri="{FF2B5EF4-FFF2-40B4-BE49-F238E27FC236}">
                <a16:creationId xmlns:a16="http://schemas.microsoft.com/office/drawing/2014/main" id="{501AB091-EC53-0D94-A28F-274B51B0F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337" y="1027906"/>
            <a:ext cx="4156768" cy="233818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 descr="The image displays a web page with various product listings, including a table of products with their names, prices, and attributes like USB connectivity, WiFi, and specifications like A16 Bionic processor or 11&#10;&#10;AI-generated content may be incorrect.">
            <a:extLst>
              <a:ext uri="{FF2B5EF4-FFF2-40B4-BE49-F238E27FC236}">
                <a16:creationId xmlns:a16="http://schemas.microsoft.com/office/drawing/2014/main" id="{F222FA70-E0C6-527F-E1F5-360EF9998F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26" y="3698541"/>
            <a:ext cx="4081527" cy="229585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8145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displays a historical document or database listing various individuals, including their names, roles, and references, related to the works of Hans Christian Andersen.&#10;&#10;AI-generated content may be incorrect.">
            <a:extLst>
              <a:ext uri="{FF2B5EF4-FFF2-40B4-BE49-F238E27FC236}">
                <a16:creationId xmlns:a16="http://schemas.microsoft.com/office/drawing/2014/main" id="{A4253246-9C9C-FDE3-0D24-9E32F90152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02" t="11124" r="26671" b="9556"/>
          <a:stretch>
            <a:fillRect/>
          </a:stretch>
        </p:blipFill>
        <p:spPr>
          <a:xfrm>
            <a:off x="452446" y="164334"/>
            <a:ext cx="2848975" cy="28405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The image displays a webpage with a navigation menu for a user named Andersen, featuring various categories like artists, cities, and themes, with a list of people, places, and events.&#10;&#10;AI-generated content may be incorrect.">
            <a:extLst>
              <a:ext uri="{FF2B5EF4-FFF2-40B4-BE49-F238E27FC236}">
                <a16:creationId xmlns:a16="http://schemas.microsoft.com/office/drawing/2014/main" id="{3B8265E6-2485-4CEC-EF2D-505347F05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524" y="105157"/>
            <a:ext cx="3184859" cy="18163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H.C. Andersen Dagbogsregister&#10;&#10;AI-generated content may be incorrect.">
            <a:extLst>
              <a:ext uri="{FF2B5EF4-FFF2-40B4-BE49-F238E27FC236}">
                <a16:creationId xmlns:a16="http://schemas.microsoft.com/office/drawing/2014/main" id="{C60B9FE2-1D22-6AF1-F924-73A22C341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383" y="201179"/>
            <a:ext cx="3279708" cy="18866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Kunstnere.&#10;&#10;AI-generated content may be incorrect.">
            <a:extLst>
              <a:ext uri="{FF2B5EF4-FFF2-40B4-BE49-F238E27FC236}">
                <a16:creationId xmlns:a16="http://schemas.microsoft.com/office/drawing/2014/main" id="{7992A1DF-043E-42B2-CB1E-868DE963C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7405" y="1242492"/>
            <a:ext cx="3112524" cy="16906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7" name="Rectangle: Top Corners One Rounded and One Snipped 56">
            <a:extLst>
              <a:ext uri="{FF2B5EF4-FFF2-40B4-BE49-F238E27FC236}">
                <a16:creationId xmlns:a16="http://schemas.microsoft.com/office/drawing/2014/main" id="{BB729C1C-9920-169E-217F-542312CCA6BA}"/>
              </a:ext>
            </a:extLst>
          </p:cNvPr>
          <p:cNvSpPr/>
          <p:nvPr/>
        </p:nvSpPr>
        <p:spPr>
          <a:xfrm>
            <a:off x="10684625" y="313266"/>
            <a:ext cx="1403131" cy="677917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b="1" dirty="0">
                <a:solidFill>
                  <a:schemeClr val="tx1"/>
                </a:solidFill>
              </a:rPr>
              <a:t>Hvornår</a:t>
            </a:r>
            <a:r>
              <a:rPr lang="da-DK" sz="1200" dirty="0">
                <a:solidFill>
                  <a:schemeClr val="tx1"/>
                </a:solidFill>
              </a:rPr>
              <a:t>,? kalender indgang</a:t>
            </a:r>
          </a:p>
        </p:txBody>
      </p:sp>
      <p:pic>
        <p:nvPicPr>
          <p:cNvPr id="59" name="Picture 58" descr="The image displays a user interface with a list of individuals, their roles, and additional details.&#10;&#10;AI-generated content may be incorrect.">
            <a:extLst>
              <a:ext uri="{FF2B5EF4-FFF2-40B4-BE49-F238E27FC236}">
                <a16:creationId xmlns:a16="http://schemas.microsoft.com/office/drawing/2014/main" id="{8DE27092-C6D5-703B-FBED-26370D8B45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2983" y="3429000"/>
            <a:ext cx="3166377" cy="18276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1" name="Picture 60" descr="The image displays a digital interface for the H.C. Andersen Dagbogsregister, listing various categories of entries such as vￃﾦrk, teater, bibliotek, and more, with a total of 2.177 days, 16.444 entries, and 1.510 persons in the register.&#10;&#10;AI-generated content may be incorrect.">
            <a:extLst>
              <a:ext uri="{FF2B5EF4-FFF2-40B4-BE49-F238E27FC236}">
                <a16:creationId xmlns:a16="http://schemas.microsoft.com/office/drawing/2014/main" id="{99F4BC4C-945D-763E-9D71-D2F811151B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7384" y="3432885"/>
            <a:ext cx="2947643" cy="18866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3" name="Picture 62" descr="Stedregister&#10;&#10;AI-generated content may be incorrect.">
            <a:extLst>
              <a:ext uri="{FF2B5EF4-FFF2-40B4-BE49-F238E27FC236}">
                <a16:creationId xmlns:a16="http://schemas.microsoft.com/office/drawing/2014/main" id="{8B0D7390-6539-6EE8-A5CC-95DA3A31A8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1195" y="3025719"/>
            <a:ext cx="3204553" cy="18866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: Top Corners One Rounded and One Snipped 1">
            <a:extLst>
              <a:ext uri="{FF2B5EF4-FFF2-40B4-BE49-F238E27FC236}">
                <a16:creationId xmlns:a16="http://schemas.microsoft.com/office/drawing/2014/main" id="{FCEA11BD-8191-EE62-808A-F357D61C67D6}"/>
              </a:ext>
            </a:extLst>
          </p:cNvPr>
          <p:cNvSpPr/>
          <p:nvPr/>
        </p:nvSpPr>
        <p:spPr>
          <a:xfrm>
            <a:off x="9850812" y="1269195"/>
            <a:ext cx="1403131" cy="677917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b="1" dirty="0">
                <a:solidFill>
                  <a:schemeClr val="tx1"/>
                </a:solidFill>
              </a:rPr>
              <a:t>Farve grøn</a:t>
            </a:r>
            <a:endParaRPr lang="da-DK" sz="1200" dirty="0">
              <a:solidFill>
                <a:schemeClr val="tx1"/>
              </a:solidFill>
            </a:endParaRPr>
          </a:p>
        </p:txBody>
      </p:sp>
      <p:sp>
        <p:nvSpPr>
          <p:cNvPr id="3" name="Rectangle: Top Corners One Rounded and One Snipped 2">
            <a:extLst>
              <a:ext uri="{FF2B5EF4-FFF2-40B4-BE49-F238E27FC236}">
                <a16:creationId xmlns:a16="http://schemas.microsoft.com/office/drawing/2014/main" id="{49684C61-6539-E788-789F-DE8A2188FB95}"/>
              </a:ext>
            </a:extLst>
          </p:cNvPr>
          <p:cNvSpPr/>
          <p:nvPr/>
        </p:nvSpPr>
        <p:spPr>
          <a:xfrm>
            <a:off x="7483452" y="2277958"/>
            <a:ext cx="1403131" cy="677917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b="1" dirty="0">
                <a:solidFill>
                  <a:schemeClr val="tx1"/>
                </a:solidFill>
              </a:rPr>
              <a:t>Farve brun</a:t>
            </a:r>
            <a:endParaRPr lang="da-DK" sz="1200" dirty="0">
              <a:solidFill>
                <a:schemeClr val="tx1"/>
              </a:solidFill>
            </a:endParaRPr>
          </a:p>
        </p:txBody>
      </p:sp>
      <p:sp>
        <p:nvSpPr>
          <p:cNvPr id="4" name="Rectangle: Top Corners One Rounded and One Snipped 3">
            <a:extLst>
              <a:ext uri="{FF2B5EF4-FFF2-40B4-BE49-F238E27FC236}">
                <a16:creationId xmlns:a16="http://schemas.microsoft.com/office/drawing/2014/main" id="{558E7C79-AE95-B4B8-AD84-52570CEAEDF0}"/>
              </a:ext>
            </a:extLst>
          </p:cNvPr>
          <p:cNvSpPr/>
          <p:nvPr/>
        </p:nvSpPr>
        <p:spPr>
          <a:xfrm>
            <a:off x="3593584" y="1443168"/>
            <a:ext cx="1403131" cy="677917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b="1" dirty="0">
                <a:solidFill>
                  <a:schemeClr val="tx1"/>
                </a:solidFill>
              </a:rPr>
              <a:t>Farve blå </a:t>
            </a:r>
            <a:br>
              <a:rPr lang="da-DK" sz="1200" b="1" dirty="0">
                <a:solidFill>
                  <a:schemeClr val="tx1"/>
                </a:solidFill>
              </a:rPr>
            </a:br>
            <a:r>
              <a:rPr lang="da-DK" sz="1200" b="1" dirty="0">
                <a:solidFill>
                  <a:schemeClr val="tx1"/>
                </a:solidFill>
              </a:rPr>
              <a:t>(som i </a:t>
            </a:r>
            <a:r>
              <a:rPr lang="da-DK" sz="1200" b="1" dirty="0" err="1">
                <a:solidFill>
                  <a:schemeClr val="tx1"/>
                </a:solidFill>
              </a:rPr>
              <a:t>isten</a:t>
            </a:r>
            <a:r>
              <a:rPr lang="da-DK" sz="1200" b="1" dirty="0">
                <a:solidFill>
                  <a:schemeClr val="tx1"/>
                </a:solidFill>
              </a:rPr>
              <a:t>)</a:t>
            </a:r>
            <a:endParaRPr lang="da-DK" sz="1200" dirty="0">
              <a:solidFill>
                <a:schemeClr val="tx1"/>
              </a:solidFill>
            </a:endParaRPr>
          </a:p>
        </p:txBody>
      </p:sp>
      <p:sp>
        <p:nvSpPr>
          <p:cNvPr id="6" name="Rectangle: Top Corners One Rounded and One Snipped 5">
            <a:extLst>
              <a:ext uri="{FF2B5EF4-FFF2-40B4-BE49-F238E27FC236}">
                <a16:creationId xmlns:a16="http://schemas.microsoft.com/office/drawing/2014/main" id="{C5337A3C-409F-A715-226A-954FD2503D58}"/>
              </a:ext>
            </a:extLst>
          </p:cNvPr>
          <p:cNvSpPr/>
          <p:nvPr/>
        </p:nvSpPr>
        <p:spPr>
          <a:xfrm>
            <a:off x="1187306" y="2719001"/>
            <a:ext cx="1403131" cy="677917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b="1" dirty="0">
                <a:solidFill>
                  <a:schemeClr val="tx1"/>
                </a:solidFill>
              </a:rPr>
              <a:t>Sortering </a:t>
            </a:r>
          </a:p>
          <a:p>
            <a:pPr algn="ctr"/>
            <a:r>
              <a:rPr lang="da-DK" sz="1200" b="1" dirty="0">
                <a:solidFill>
                  <a:schemeClr val="tx1"/>
                </a:solidFill>
              </a:rPr>
              <a:t>Hvem Hvad, Hvor, Hvornår</a:t>
            </a:r>
            <a:endParaRPr lang="da-DK" sz="1200" dirty="0">
              <a:solidFill>
                <a:schemeClr val="tx1"/>
              </a:solidFill>
            </a:endParaRPr>
          </a:p>
        </p:txBody>
      </p:sp>
      <p:sp>
        <p:nvSpPr>
          <p:cNvPr id="8" name="Rectangle: Top Corners One Rounded and One Snipped 7">
            <a:extLst>
              <a:ext uri="{FF2B5EF4-FFF2-40B4-BE49-F238E27FC236}">
                <a16:creationId xmlns:a16="http://schemas.microsoft.com/office/drawing/2014/main" id="{0768E665-0B0D-4CFC-5E94-4AC724C65130}"/>
              </a:ext>
            </a:extLst>
          </p:cNvPr>
          <p:cNvSpPr/>
          <p:nvPr/>
        </p:nvSpPr>
        <p:spPr>
          <a:xfrm>
            <a:off x="830404" y="5559527"/>
            <a:ext cx="1403131" cy="562750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1200" dirty="0">
                <a:solidFill>
                  <a:schemeClr val="tx1"/>
                </a:solidFill>
              </a:rPr>
              <a:t>Navigation.</a:t>
            </a:r>
          </a:p>
          <a:p>
            <a:r>
              <a:rPr lang="da-DK" sz="1200" dirty="0">
                <a:solidFill>
                  <a:schemeClr val="tx1"/>
                </a:solidFill>
              </a:rPr>
              <a:t>- Tilbage link</a:t>
            </a:r>
          </a:p>
        </p:txBody>
      </p:sp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49DB7CBD-D3CC-4862-1177-797DEAF667CC}"/>
              </a:ext>
            </a:extLst>
          </p:cNvPr>
          <p:cNvSpPr/>
          <p:nvPr/>
        </p:nvSpPr>
        <p:spPr>
          <a:xfrm>
            <a:off x="3301421" y="5414832"/>
            <a:ext cx="2221765" cy="1245552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1200" dirty="0">
                <a:solidFill>
                  <a:schemeClr val="tx1"/>
                </a:solidFill>
              </a:rPr>
              <a:t>Aktiv/dynamisk filtrering hvor øvrige filtre opdateres ved valg (antal, </a:t>
            </a:r>
            <a:r>
              <a:rPr lang="da-DK" sz="1200" dirty="0" err="1">
                <a:solidFill>
                  <a:schemeClr val="tx1"/>
                </a:solidFill>
              </a:rPr>
              <a:t>dimed</a:t>
            </a:r>
            <a:r>
              <a:rPr lang="da-DK" sz="1200" dirty="0">
                <a:solidFill>
                  <a:schemeClr val="tx1"/>
                </a:solidFill>
              </a:rPr>
              <a:t> hvis antal =0)</a:t>
            </a:r>
          </a:p>
        </p:txBody>
      </p:sp>
    </p:spTree>
    <p:extLst>
      <p:ext uri="{BB962C8B-B14F-4D97-AF65-F5344CB8AC3E}">
        <p14:creationId xmlns:p14="http://schemas.microsoft.com/office/powerpoint/2010/main" val="1360384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Top Corners One Rounded and One Snipped 3">
            <a:extLst>
              <a:ext uri="{FF2B5EF4-FFF2-40B4-BE49-F238E27FC236}">
                <a16:creationId xmlns:a16="http://schemas.microsoft.com/office/drawing/2014/main" id="{62906EB4-D51B-15E3-2555-8901B3592CC7}"/>
              </a:ext>
            </a:extLst>
          </p:cNvPr>
          <p:cNvSpPr/>
          <p:nvPr/>
        </p:nvSpPr>
        <p:spPr>
          <a:xfrm>
            <a:off x="141977" y="155021"/>
            <a:ext cx="1560074" cy="1973324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1200" dirty="0">
                <a:solidFill>
                  <a:schemeClr val="tx1"/>
                </a:solidFill>
              </a:rPr>
              <a:t>Dagbogsunivers som er centrum</a:t>
            </a:r>
          </a:p>
          <a:p>
            <a:r>
              <a:rPr lang="da-DK" sz="1200" dirty="0">
                <a:solidFill>
                  <a:schemeClr val="tx1"/>
                </a:solidFill>
              </a:rPr>
              <a:t>Forskellige views baseret på</a:t>
            </a:r>
          </a:p>
          <a:p>
            <a:r>
              <a:rPr lang="da-DK" sz="1200" dirty="0">
                <a:solidFill>
                  <a:schemeClr val="tx1"/>
                </a:solidFill>
              </a:rPr>
              <a:t>- Hvem</a:t>
            </a:r>
          </a:p>
          <a:p>
            <a:r>
              <a:rPr lang="da-DK" sz="1200" dirty="0">
                <a:solidFill>
                  <a:schemeClr val="tx1"/>
                </a:solidFill>
              </a:rPr>
              <a:t>- Hvad</a:t>
            </a:r>
          </a:p>
          <a:p>
            <a:r>
              <a:rPr lang="da-DK" sz="1200" dirty="0">
                <a:solidFill>
                  <a:schemeClr val="tx1"/>
                </a:solidFill>
              </a:rPr>
              <a:t>- Hvor</a:t>
            </a:r>
          </a:p>
          <a:p>
            <a:r>
              <a:rPr lang="da-DK" sz="1200" dirty="0">
                <a:solidFill>
                  <a:schemeClr val="tx1"/>
                </a:solidFill>
              </a:rPr>
              <a:t>- Hvornår</a:t>
            </a:r>
          </a:p>
        </p:txBody>
      </p:sp>
      <p:pic>
        <p:nvPicPr>
          <p:cNvPr id="6" name="Picture 5" descr="The text appears to be a list of categories and subcategories, possibly from a catalog or index, with numbers indicating the quantity of items or entries under each category.&#10;&#10;AI-generated content may be incorrect.">
            <a:extLst>
              <a:ext uri="{FF2B5EF4-FFF2-40B4-BE49-F238E27FC236}">
                <a16:creationId xmlns:a16="http://schemas.microsoft.com/office/drawing/2014/main" id="{A640CDD1-1549-FB7A-588C-44A2FAB7E03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1FAE5">
                <a:tint val="45000"/>
                <a:satMod val="400000"/>
              </a:srgbClr>
            </a:duotone>
          </a:blip>
          <a:srcRect l="67989"/>
          <a:stretch>
            <a:fillRect/>
          </a:stretch>
        </p:blipFill>
        <p:spPr>
          <a:xfrm>
            <a:off x="8313857" y="3118723"/>
            <a:ext cx="1786758" cy="18288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AA19A5-4CF4-5AD1-FE0F-F114CB5B1D6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</a:blip>
          <a:srcRect l="33994" r="33994"/>
          <a:stretch>
            <a:fillRect/>
          </a:stretch>
        </p:blipFill>
        <p:spPr>
          <a:xfrm>
            <a:off x="4769156" y="557265"/>
            <a:ext cx="1786758" cy="18288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8DCA14-974B-1732-F903-65B8260F8F1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EF0E3">
                <a:tint val="45000"/>
                <a:satMod val="400000"/>
              </a:srgbClr>
            </a:duotone>
          </a:blip>
          <a:srcRect r="65911"/>
          <a:stretch>
            <a:fillRect/>
          </a:stretch>
        </p:blipFill>
        <p:spPr>
          <a:xfrm>
            <a:off x="1975420" y="2978155"/>
            <a:ext cx="1902722" cy="18288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The image displays a list of book titles and their associated page numbers, featuring works by authors such as Edvard Collin, Agnete and Havmanden, and historical figures like Carlo Borromeo.&#10;&#10;AI-generated content may be incorrect.">
            <a:extLst>
              <a:ext uri="{FF2B5EF4-FFF2-40B4-BE49-F238E27FC236}">
                <a16:creationId xmlns:a16="http://schemas.microsoft.com/office/drawing/2014/main" id="{CE659E2C-1400-D2D7-EEB0-ECCCA322703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052872" y="2510648"/>
            <a:ext cx="4086255" cy="26670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A073F77-D9DD-EA58-F144-27F2E5B77717}"/>
              </a:ext>
            </a:extLst>
          </p:cNvPr>
          <p:cNvSpPr/>
          <p:nvPr/>
        </p:nvSpPr>
        <p:spPr>
          <a:xfrm>
            <a:off x="2044262" y="5334000"/>
            <a:ext cx="8056354" cy="94067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latin typeface="Rockwell Nova" panose="020F0502020204030204" pitchFamily="18" charset="0"/>
              </a:rPr>
              <a:t>Hvornår</a:t>
            </a:r>
          </a:p>
        </p:txBody>
      </p:sp>
      <p:sp>
        <p:nvSpPr>
          <p:cNvPr id="2" name="Rectangle: Top Corners One Rounded and One Snipped 1">
            <a:extLst>
              <a:ext uri="{FF2B5EF4-FFF2-40B4-BE49-F238E27FC236}">
                <a16:creationId xmlns:a16="http://schemas.microsoft.com/office/drawing/2014/main" id="{1D8C869D-DDD8-7EE0-4DAB-56CB44824B52}"/>
              </a:ext>
            </a:extLst>
          </p:cNvPr>
          <p:cNvSpPr/>
          <p:nvPr/>
        </p:nvSpPr>
        <p:spPr>
          <a:xfrm>
            <a:off x="6159948" y="290397"/>
            <a:ext cx="1560074" cy="533736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1200" dirty="0">
                <a:solidFill>
                  <a:schemeClr val="tx1"/>
                </a:solidFill>
              </a:rPr>
              <a:t>Meta-data til Dagbøger</a:t>
            </a:r>
          </a:p>
        </p:txBody>
      </p:sp>
      <p:sp>
        <p:nvSpPr>
          <p:cNvPr id="3" name="Rectangle: Top Corners One Rounded and One Snipped 2">
            <a:extLst>
              <a:ext uri="{FF2B5EF4-FFF2-40B4-BE49-F238E27FC236}">
                <a16:creationId xmlns:a16="http://schemas.microsoft.com/office/drawing/2014/main" id="{5068E702-E242-E81E-1625-BFC0E58314DD}"/>
              </a:ext>
            </a:extLst>
          </p:cNvPr>
          <p:cNvSpPr/>
          <p:nvPr/>
        </p:nvSpPr>
        <p:spPr>
          <a:xfrm>
            <a:off x="642017" y="2655377"/>
            <a:ext cx="1560074" cy="533736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1200" dirty="0">
                <a:solidFill>
                  <a:schemeClr val="tx1"/>
                </a:solidFill>
              </a:rPr>
              <a:t>Meta-data til Dagbøger</a:t>
            </a:r>
          </a:p>
        </p:txBody>
      </p:sp>
      <p:sp>
        <p:nvSpPr>
          <p:cNvPr id="5" name="Rectangle: Top Corners One Rounded and One Snipped 4">
            <a:extLst>
              <a:ext uri="{FF2B5EF4-FFF2-40B4-BE49-F238E27FC236}">
                <a16:creationId xmlns:a16="http://schemas.microsoft.com/office/drawing/2014/main" id="{387DB201-DD06-B21F-623A-3663E82F7B52}"/>
              </a:ext>
            </a:extLst>
          </p:cNvPr>
          <p:cNvSpPr/>
          <p:nvPr/>
        </p:nvSpPr>
        <p:spPr>
          <a:xfrm>
            <a:off x="9436543" y="2851855"/>
            <a:ext cx="1560074" cy="533736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1200" dirty="0">
                <a:solidFill>
                  <a:schemeClr val="tx1"/>
                </a:solidFill>
              </a:rPr>
              <a:t>Meta-data til Dagbøger</a:t>
            </a:r>
          </a:p>
        </p:txBody>
      </p:sp>
    </p:spTree>
    <p:extLst>
      <p:ext uri="{BB962C8B-B14F-4D97-AF65-F5344CB8AC3E}">
        <p14:creationId xmlns:p14="http://schemas.microsoft.com/office/powerpoint/2010/main" val="766441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B8EC0-DFD8-7FC1-C40E-5DBCA55B3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Top Corners One Rounded and One Snipped 3">
            <a:extLst>
              <a:ext uri="{FF2B5EF4-FFF2-40B4-BE49-F238E27FC236}">
                <a16:creationId xmlns:a16="http://schemas.microsoft.com/office/drawing/2014/main" id="{372D8C98-35D1-F4AC-6935-966537BB483C}"/>
              </a:ext>
            </a:extLst>
          </p:cNvPr>
          <p:cNvSpPr/>
          <p:nvPr/>
        </p:nvSpPr>
        <p:spPr>
          <a:xfrm>
            <a:off x="141977" y="155020"/>
            <a:ext cx="2953920" cy="4436573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1200" dirty="0">
                <a:solidFill>
                  <a:schemeClr val="tx1"/>
                </a:solidFill>
              </a:rPr>
              <a:t>3 dimensions" og "Åben tekst søgning på filtrer”</a:t>
            </a:r>
          </a:p>
          <a:p>
            <a:endParaRPr lang="da-DK" sz="1200" dirty="0">
              <a:solidFill>
                <a:schemeClr val="tx1"/>
              </a:solidFill>
            </a:endParaRPr>
          </a:p>
          <a:p>
            <a:r>
              <a:rPr lang="da-DK" sz="1200" dirty="0">
                <a:solidFill>
                  <a:schemeClr val="tx1"/>
                </a:solidFill>
              </a:rPr>
              <a:t>Spørgeord som filtre: Hvornår,</a:t>
            </a:r>
          </a:p>
          <a:p>
            <a:r>
              <a:rPr lang="da-DK" sz="1200" dirty="0">
                <a:solidFill>
                  <a:schemeClr val="tx1"/>
                </a:solidFill>
              </a:rPr>
              <a:t>Hvem, Hvad og Hvor —  som de tre søgedimensioner.</a:t>
            </a:r>
          </a:p>
          <a:p>
            <a:endParaRPr lang="da-DK" sz="1200" dirty="0">
              <a:solidFill>
                <a:schemeClr val="tx1"/>
              </a:solidFill>
            </a:endParaRPr>
          </a:p>
          <a:p>
            <a:r>
              <a:rPr lang="da-DK" sz="1200" dirty="0">
                <a:solidFill>
                  <a:schemeClr val="tx1"/>
                </a:solidFill>
              </a:rPr>
              <a:t>Underkategorier: </a:t>
            </a:r>
          </a:p>
          <a:p>
            <a:r>
              <a:rPr lang="da-DK" sz="1200" dirty="0">
                <a:solidFill>
                  <a:schemeClr val="tx1"/>
                </a:solidFill>
              </a:rPr>
              <a:t> Nationalitet, Rolle/erhverv og Steder — knyttet til hvem/hvad/hvor-akserne.</a:t>
            </a:r>
          </a:p>
          <a:p>
            <a:endParaRPr lang="da-DK" sz="1200" dirty="0">
              <a:solidFill>
                <a:schemeClr val="tx1"/>
              </a:solidFill>
            </a:endParaRPr>
          </a:p>
          <a:p>
            <a:r>
              <a:rPr lang="da-DK" sz="1200" dirty="0">
                <a:solidFill>
                  <a:schemeClr val="tx1"/>
                </a:solidFill>
              </a:rPr>
              <a:t>Resultatkobling: En fremhævet boks markerer, at filtrene er "Tilknyttet målinger i resultat".</a:t>
            </a:r>
          </a:p>
          <a:p>
            <a:endParaRPr lang="da-DK" sz="1200" dirty="0">
              <a:solidFill>
                <a:schemeClr val="tx1"/>
              </a:solidFill>
            </a:endParaRPr>
          </a:p>
          <a:p>
            <a:r>
              <a:rPr lang="da-DK" sz="1200" dirty="0">
                <a:solidFill>
                  <a:schemeClr val="tx1"/>
                </a:solidFill>
              </a:rPr>
              <a:t>Data og Meta-data, klar markering der filtreres på Data eller Meta-data</a:t>
            </a:r>
          </a:p>
          <a:p>
            <a:r>
              <a:rPr lang="da-DK" sz="1200" dirty="0">
                <a:solidFill>
                  <a:schemeClr val="tx1"/>
                </a:solidFill>
              </a:rPr>
              <a:t>Data kan være Meta-data til andre entiteter.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0E673A-4ED3-3F46-281A-75FE959A799D}"/>
              </a:ext>
            </a:extLst>
          </p:cNvPr>
          <p:cNvGrpSpPr/>
          <p:nvPr/>
        </p:nvGrpSpPr>
        <p:grpSpPr>
          <a:xfrm>
            <a:off x="6169056" y="155021"/>
            <a:ext cx="5100380" cy="2008760"/>
            <a:chOff x="2348170" y="155021"/>
            <a:chExt cx="5100380" cy="2008760"/>
          </a:xfrm>
        </p:grpSpPr>
        <p:pic>
          <p:nvPicPr>
            <p:cNvPr id="3" name="Picture 2" descr="The image displays a list of historical records, including personal names, nationalities, roles, and additional information, such as professions, family relations, and contributions.&#10;&#10;AI-generated content may be incorrect.">
              <a:extLst>
                <a:ext uri="{FF2B5EF4-FFF2-40B4-BE49-F238E27FC236}">
                  <a16:creationId xmlns:a16="http://schemas.microsoft.com/office/drawing/2014/main" id="{5C3EB08C-595C-2788-4719-C05B937F9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FFF7E1">
                  <a:tint val="45000"/>
                  <a:satMod val="400000"/>
                </a:srgbClr>
              </a:duotone>
            </a:blip>
            <a:srcRect l="27594"/>
            <a:stretch>
              <a:fillRect/>
            </a:stretch>
          </p:blipFill>
          <p:spPr>
            <a:xfrm>
              <a:off x="3040460" y="155021"/>
              <a:ext cx="1758570" cy="159638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B3C27EE-5C82-95AC-6ADF-545C4C27A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FFF7E1">
                  <a:tint val="45000"/>
                  <a:satMod val="400000"/>
                </a:srgbClr>
              </a:duotone>
            </a:blip>
            <a:srcRect r="74062"/>
            <a:stretch>
              <a:fillRect/>
            </a:stretch>
          </p:blipFill>
          <p:spPr>
            <a:xfrm>
              <a:off x="2348170" y="155021"/>
              <a:ext cx="629982" cy="159638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9" name="Picture 8" descr="The image displays a list of book titles and their associated page numbers, featuring works by authors such as Edvard Collin, Agnete and Havmanden, and historical figures like Carlo Borromeo.&#10;&#10;AI-generated content may be incorrect.">
              <a:extLst>
                <a:ext uri="{FF2B5EF4-FFF2-40B4-BE49-F238E27FC236}">
                  <a16:creationId xmlns:a16="http://schemas.microsoft.com/office/drawing/2014/main" id="{86CB3E51-9081-22BA-117C-EB08EA10A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6">
                  <a:lumMod val="20000"/>
                  <a:lumOff val="80000"/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933952" y="155021"/>
              <a:ext cx="2445894" cy="159638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4512A44-34A8-A67B-7E45-3EAA65DCADB3}"/>
                </a:ext>
              </a:extLst>
            </p:cNvPr>
            <p:cNvSpPr/>
            <p:nvPr/>
          </p:nvSpPr>
          <p:spPr>
            <a:xfrm>
              <a:off x="2348170" y="1827231"/>
              <a:ext cx="5100380" cy="336550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>
                  <a:latin typeface="Rockwell Nova" panose="020F0502020204030204" pitchFamily="18" charset="0"/>
                </a:rPr>
                <a:t>Hvornår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DC30EF6-CD55-5705-ACA2-B463B3E8B278}"/>
                </a:ext>
              </a:extLst>
            </p:cNvPr>
            <p:cNvSpPr txBox="1"/>
            <p:nvPr/>
          </p:nvSpPr>
          <p:spPr>
            <a:xfrm rot="16200000">
              <a:off x="2235843" y="722383"/>
              <a:ext cx="9639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sz="2400" dirty="0"/>
                <a:t>Hvem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D376260-8E1C-19F1-B36B-F06185B95EC4}"/>
              </a:ext>
            </a:extLst>
          </p:cNvPr>
          <p:cNvGrpSpPr/>
          <p:nvPr/>
        </p:nvGrpSpPr>
        <p:grpSpPr>
          <a:xfrm>
            <a:off x="3627912" y="2767913"/>
            <a:ext cx="3233434" cy="2015310"/>
            <a:chOff x="1986220" y="3097832"/>
            <a:chExt cx="3233434" cy="201531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0D4B634-7F2D-9E62-43E2-C53694101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9CF3FB">
                  <a:tint val="45000"/>
                  <a:satMod val="400000"/>
                </a:srgbClr>
              </a:duotone>
            </a:blip>
            <a:srcRect r="74062"/>
            <a:stretch>
              <a:fillRect/>
            </a:stretch>
          </p:blipFill>
          <p:spPr>
            <a:xfrm>
              <a:off x="1986220" y="3097832"/>
              <a:ext cx="629982" cy="159638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Picture 12" descr="The image displays a list of book titles and their associated page numbers, featuring works by authors such as Edvard Collin, Agnete and Havmanden, and historical figures like Carlo Borromeo.&#10;&#10;AI-generated content may be incorrect.">
              <a:extLst>
                <a:ext uri="{FF2B5EF4-FFF2-40B4-BE49-F238E27FC236}">
                  <a16:creationId xmlns:a16="http://schemas.microsoft.com/office/drawing/2014/main" id="{1720F85B-B48B-B40F-DEAB-74A998B1E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6">
                  <a:lumMod val="20000"/>
                  <a:lumOff val="80000"/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2678510" y="3097832"/>
              <a:ext cx="2445894" cy="159638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342C685-3495-FA47-DEC4-A8D215906BA1}"/>
                </a:ext>
              </a:extLst>
            </p:cNvPr>
            <p:cNvSpPr/>
            <p:nvPr/>
          </p:nvSpPr>
          <p:spPr>
            <a:xfrm>
              <a:off x="1986220" y="4776592"/>
              <a:ext cx="3233434" cy="336550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>
                  <a:latin typeface="Rockwell Nova" panose="020F0502020204030204" pitchFamily="18" charset="0"/>
                </a:rPr>
                <a:t>Hvornår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236018-98D7-0DB4-D447-B4BAF090BA13}"/>
                </a:ext>
              </a:extLst>
            </p:cNvPr>
            <p:cNvSpPr txBox="1"/>
            <p:nvPr/>
          </p:nvSpPr>
          <p:spPr>
            <a:xfrm rot="16200000">
              <a:off x="1909299" y="3637038"/>
              <a:ext cx="8777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sz="2400" dirty="0"/>
                <a:t>Hvad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AD8E7C3-94A2-5F82-62A2-15B1E67A9C53}"/>
              </a:ext>
            </a:extLst>
          </p:cNvPr>
          <p:cNvGrpSpPr/>
          <p:nvPr/>
        </p:nvGrpSpPr>
        <p:grpSpPr>
          <a:xfrm>
            <a:off x="7369653" y="3945840"/>
            <a:ext cx="3233434" cy="2015310"/>
            <a:chOff x="7369653" y="3945840"/>
            <a:chExt cx="3233434" cy="201531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C074F4-EA01-D3A5-AC59-AC981F75A4E6}"/>
                </a:ext>
              </a:extLst>
            </p:cNvPr>
            <p:cNvSpPr/>
            <p:nvPr/>
          </p:nvSpPr>
          <p:spPr>
            <a:xfrm>
              <a:off x="7369653" y="5624600"/>
              <a:ext cx="3233434" cy="336550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>
                  <a:latin typeface="Rockwell Nova" panose="020F0502020204030204" pitchFamily="18" charset="0"/>
                </a:rPr>
                <a:t>Hvornår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F1990A4-206D-75D9-CAD7-EE66877CAC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D2FFF2">
                  <a:tint val="45000"/>
                  <a:satMod val="400000"/>
                </a:srgbClr>
              </a:duotone>
            </a:blip>
            <a:srcRect r="74062"/>
            <a:stretch>
              <a:fillRect/>
            </a:stretch>
          </p:blipFill>
          <p:spPr>
            <a:xfrm>
              <a:off x="7369653" y="3945840"/>
              <a:ext cx="629982" cy="159638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6" name="Picture 15" descr="The image displays a list of book titles and their associated page numbers, featuring works by authors such as Edvard Collin, Agnete and Havmanden, and historical figures like Carlo Borromeo.&#10;&#10;AI-generated content may be incorrect.">
              <a:extLst>
                <a:ext uri="{FF2B5EF4-FFF2-40B4-BE49-F238E27FC236}">
                  <a16:creationId xmlns:a16="http://schemas.microsoft.com/office/drawing/2014/main" id="{D64A72AA-5183-0350-533D-6194B7C95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6">
                  <a:lumMod val="20000"/>
                  <a:lumOff val="80000"/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157193" y="3945840"/>
              <a:ext cx="2445894" cy="159638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6BD719-5CC0-22FB-299E-EEDAADA4582A}"/>
                </a:ext>
              </a:extLst>
            </p:cNvPr>
            <p:cNvSpPr txBox="1"/>
            <p:nvPr/>
          </p:nvSpPr>
          <p:spPr>
            <a:xfrm rot="16200000">
              <a:off x="7289920" y="4513202"/>
              <a:ext cx="8116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sz="2400" dirty="0"/>
                <a:t>Hvor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0279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CCCE2-CB09-AA12-BBB0-AD57967D3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3652B0CF-00A1-1C63-FFD4-229D98BC7710}"/>
              </a:ext>
            </a:extLst>
          </p:cNvPr>
          <p:cNvGrpSpPr/>
          <p:nvPr/>
        </p:nvGrpSpPr>
        <p:grpSpPr>
          <a:xfrm>
            <a:off x="314796" y="4842690"/>
            <a:ext cx="3983884" cy="2015310"/>
            <a:chOff x="1986220" y="3097832"/>
            <a:chExt cx="3983884" cy="20153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39F3F97-48FB-C1D5-A128-BB6096EF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9CF3FB">
                  <a:tint val="45000"/>
                  <a:satMod val="400000"/>
                </a:srgbClr>
              </a:duotone>
            </a:blip>
            <a:srcRect r="74062"/>
            <a:stretch>
              <a:fillRect/>
            </a:stretch>
          </p:blipFill>
          <p:spPr>
            <a:xfrm>
              <a:off x="1986220" y="3097832"/>
              <a:ext cx="629982" cy="159638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Picture 12" descr="The image displays a list of book titles and their associated page numbers, featuring works by authors such as Edvard Collin, Agnete and Havmanden, and historical figures like Carlo Borromeo.&#10;&#10;AI-generated content may be incorrect.">
              <a:extLst>
                <a:ext uri="{FF2B5EF4-FFF2-40B4-BE49-F238E27FC236}">
                  <a16:creationId xmlns:a16="http://schemas.microsoft.com/office/drawing/2014/main" id="{FDEFC819-2DDC-96F1-842A-7D9D88A04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6">
                  <a:lumMod val="20000"/>
                  <a:lumOff val="80000"/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470270" y="3147646"/>
              <a:ext cx="2445894" cy="159638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7FD7906-9C37-3D09-FD06-3844D565614C}"/>
                </a:ext>
              </a:extLst>
            </p:cNvPr>
            <p:cNvSpPr/>
            <p:nvPr/>
          </p:nvSpPr>
          <p:spPr>
            <a:xfrm>
              <a:off x="1986220" y="4776592"/>
              <a:ext cx="3983884" cy="336550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>
                  <a:latin typeface="Rockwell Nova" panose="020F0502020204030204" pitchFamily="18" charset="0"/>
                </a:rPr>
                <a:t>Hvornår</a:t>
              </a: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98CA4F6-C942-22BE-8C06-CB7BA2865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D2FFF2">
                  <a:tint val="45000"/>
                  <a:satMod val="400000"/>
                </a:srgbClr>
              </a:duotone>
            </a:blip>
            <a:srcRect r="74062"/>
            <a:stretch>
              <a:fillRect/>
            </a:stretch>
          </p:blipFill>
          <p:spPr>
            <a:xfrm>
              <a:off x="2762574" y="3139018"/>
              <a:ext cx="629982" cy="159638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54B0C16-C3B1-103C-2A02-F1D1273A8F90}"/>
              </a:ext>
            </a:extLst>
          </p:cNvPr>
          <p:cNvGrpSpPr/>
          <p:nvPr/>
        </p:nvGrpSpPr>
        <p:grpSpPr>
          <a:xfrm>
            <a:off x="384313" y="161647"/>
            <a:ext cx="3983884" cy="2015310"/>
            <a:chOff x="2191316" y="155021"/>
            <a:chExt cx="3983884" cy="20153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020CAC3-B613-1498-44B0-B1C4E9A7E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FFF7E1">
                  <a:tint val="45000"/>
                  <a:satMod val="400000"/>
                </a:srgbClr>
              </a:duotone>
            </a:blip>
            <a:srcRect r="74062"/>
            <a:stretch>
              <a:fillRect/>
            </a:stretch>
          </p:blipFill>
          <p:spPr>
            <a:xfrm>
              <a:off x="2191316" y="161571"/>
              <a:ext cx="629982" cy="159638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9" name="Picture 8" descr="The image displays a list of book titles and their associated page numbers, featuring works by authors such as Edvard Collin, Agnete and Havmanden, and historical figures like Carlo Borromeo.&#10;&#10;AI-generated content may be incorrect.">
              <a:extLst>
                <a:ext uri="{FF2B5EF4-FFF2-40B4-BE49-F238E27FC236}">
                  <a16:creationId xmlns:a16="http://schemas.microsoft.com/office/drawing/2014/main" id="{21BFE008-98B2-E2CD-7724-3DFADBAB6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6">
                  <a:lumMod val="20000"/>
                  <a:lumOff val="80000"/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650106" y="155021"/>
              <a:ext cx="2445894" cy="159638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F96DF33-46D5-9795-E8B1-1B0EECD511B2}"/>
                </a:ext>
              </a:extLst>
            </p:cNvPr>
            <p:cNvSpPr/>
            <p:nvPr/>
          </p:nvSpPr>
          <p:spPr>
            <a:xfrm>
              <a:off x="2191316" y="1833781"/>
              <a:ext cx="3983884" cy="336550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>
                  <a:latin typeface="Rockwell Nova" panose="020F0502020204030204" pitchFamily="18" charset="0"/>
                </a:rPr>
                <a:t>Hvornår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B788216-24B0-3CAB-C1B3-A965BC7A9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9CF3FB">
                  <a:tint val="45000"/>
                  <a:satMod val="400000"/>
                </a:srgbClr>
              </a:duotone>
            </a:blip>
            <a:srcRect r="74062"/>
            <a:stretch>
              <a:fillRect/>
            </a:stretch>
          </p:blipFill>
          <p:spPr>
            <a:xfrm>
              <a:off x="2920711" y="161571"/>
              <a:ext cx="629982" cy="159638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11C176F-B7F7-AA5A-698A-ECE6BF477DD2}"/>
              </a:ext>
            </a:extLst>
          </p:cNvPr>
          <p:cNvGrpSpPr/>
          <p:nvPr/>
        </p:nvGrpSpPr>
        <p:grpSpPr>
          <a:xfrm>
            <a:off x="374630" y="2468354"/>
            <a:ext cx="4003250" cy="2053956"/>
            <a:chOff x="7644294" y="53460"/>
            <a:chExt cx="4003250" cy="20539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697D66C-DB18-B23B-BA02-620D92BB8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FFF7E1">
                  <a:tint val="45000"/>
                  <a:satMod val="400000"/>
                </a:srgbClr>
              </a:duotone>
            </a:blip>
            <a:srcRect r="74062"/>
            <a:stretch>
              <a:fillRect/>
            </a:stretch>
          </p:blipFill>
          <p:spPr>
            <a:xfrm>
              <a:off x="8383372" y="53460"/>
              <a:ext cx="629982" cy="159638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Picture 19" descr="The image displays a list of book titles and their associated page numbers, featuring works by authors such as Edvard Collin, Agnete and Havmanden, and historical figures like Carlo Borromeo.&#10;&#10;AI-generated content may be incorrect.">
              <a:extLst>
                <a:ext uri="{FF2B5EF4-FFF2-40B4-BE49-F238E27FC236}">
                  <a16:creationId xmlns:a16="http://schemas.microsoft.com/office/drawing/2014/main" id="{66FBDE7F-768C-8C01-7E92-5D01D51A5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6">
                  <a:lumMod val="20000"/>
                  <a:lumOff val="80000"/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9122450" y="92106"/>
              <a:ext cx="2445894" cy="159638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38696B9-7153-6E8A-98A9-C2325F9CA326}"/>
                </a:ext>
              </a:extLst>
            </p:cNvPr>
            <p:cNvSpPr/>
            <p:nvPr/>
          </p:nvSpPr>
          <p:spPr>
            <a:xfrm>
              <a:off x="7663660" y="1770866"/>
              <a:ext cx="3983884" cy="336550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>
                  <a:latin typeface="Rockwell Nova" panose="020F0502020204030204" pitchFamily="18" charset="0"/>
                </a:rPr>
                <a:t>Hvornår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2DFA17E-8757-A736-5363-49A177827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D2FFF2">
                  <a:tint val="45000"/>
                  <a:satMod val="400000"/>
                </a:srgbClr>
              </a:duotone>
            </a:blip>
            <a:srcRect r="74062"/>
            <a:stretch>
              <a:fillRect/>
            </a:stretch>
          </p:blipFill>
          <p:spPr>
            <a:xfrm>
              <a:off x="7644294" y="53460"/>
              <a:ext cx="629982" cy="159638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D5CCE2B-3E1A-B7B5-5917-5DDB5349C4C2}"/>
              </a:ext>
            </a:extLst>
          </p:cNvPr>
          <p:cNvSpPr txBox="1"/>
          <p:nvPr/>
        </p:nvSpPr>
        <p:spPr>
          <a:xfrm rot="16200000">
            <a:off x="207663" y="904634"/>
            <a:ext cx="96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 dirty="0"/>
              <a:t>Hvem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CD538-F5FE-00DC-B6F1-588EE8D49AA2}"/>
              </a:ext>
            </a:extLst>
          </p:cNvPr>
          <p:cNvSpPr txBox="1"/>
          <p:nvPr/>
        </p:nvSpPr>
        <p:spPr>
          <a:xfrm rot="16200000">
            <a:off x="1008340" y="3198168"/>
            <a:ext cx="96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 dirty="0"/>
              <a:t>Hvem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82A548-FC97-9BCB-7E1C-BCCA61D1AFE3}"/>
              </a:ext>
            </a:extLst>
          </p:cNvPr>
          <p:cNvSpPr txBox="1"/>
          <p:nvPr/>
        </p:nvSpPr>
        <p:spPr>
          <a:xfrm rot="16200000">
            <a:off x="991019" y="946832"/>
            <a:ext cx="877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 dirty="0"/>
              <a:t>Hvad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BB1F1C-231D-D88F-7303-7756B0351A75}"/>
              </a:ext>
            </a:extLst>
          </p:cNvPr>
          <p:cNvSpPr txBox="1"/>
          <p:nvPr/>
        </p:nvSpPr>
        <p:spPr>
          <a:xfrm rot="16200000">
            <a:off x="266654" y="5534790"/>
            <a:ext cx="877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 dirty="0"/>
              <a:t>Hvad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CE269E-DA94-5685-8A54-34776785AB6D}"/>
              </a:ext>
            </a:extLst>
          </p:cNvPr>
          <p:cNvSpPr txBox="1"/>
          <p:nvPr/>
        </p:nvSpPr>
        <p:spPr>
          <a:xfrm rot="16200000">
            <a:off x="319106" y="3116359"/>
            <a:ext cx="811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 dirty="0"/>
              <a:t>Hvor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53535B-7510-71BD-62D7-34F24E8341ED}"/>
              </a:ext>
            </a:extLst>
          </p:cNvPr>
          <p:cNvSpPr txBox="1"/>
          <p:nvPr/>
        </p:nvSpPr>
        <p:spPr>
          <a:xfrm rot="16200000">
            <a:off x="1022882" y="5568680"/>
            <a:ext cx="811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 dirty="0"/>
              <a:t>Hvor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DF9227E-B947-F02B-4733-2A234539C0A6}"/>
              </a:ext>
            </a:extLst>
          </p:cNvPr>
          <p:cNvGrpSpPr/>
          <p:nvPr/>
        </p:nvGrpSpPr>
        <p:grpSpPr>
          <a:xfrm>
            <a:off x="4854908" y="280605"/>
            <a:ext cx="1888416" cy="5652490"/>
            <a:chOff x="6245689" y="478949"/>
            <a:chExt cx="1888416" cy="56524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6" name="Picture 25" descr="The text appears to be a list of countries and their respective population numbers, followed by various professions and their associated numbers.&#10;&#10;AI-generated content may be incorrect.">
              <a:extLst>
                <a:ext uri="{FF2B5EF4-FFF2-40B4-BE49-F238E27FC236}">
                  <a16:creationId xmlns:a16="http://schemas.microsoft.com/office/drawing/2014/main" id="{266172D8-6363-91B8-5C5B-98691F6A7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5689" y="478949"/>
              <a:ext cx="1888416" cy="565249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8A446F0-A5AA-2D35-21F6-1EB953EDF508}"/>
                </a:ext>
              </a:extLst>
            </p:cNvPr>
            <p:cNvSpPr/>
            <p:nvPr/>
          </p:nvSpPr>
          <p:spPr>
            <a:xfrm>
              <a:off x="6431218" y="837921"/>
              <a:ext cx="1362954" cy="2569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200" dirty="0">
                  <a:solidFill>
                    <a:schemeClr val="bg2">
                      <a:lumMod val="75000"/>
                    </a:schemeClr>
                  </a:solidFill>
                </a:rPr>
                <a:t>Nationalitet</a:t>
              </a:r>
              <a:endParaRPr lang="da-DK" sz="1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84667CE-AA99-C910-28F5-FCA3715FD3A8}"/>
                </a:ext>
              </a:extLst>
            </p:cNvPr>
            <p:cNvSpPr/>
            <p:nvPr/>
          </p:nvSpPr>
          <p:spPr>
            <a:xfrm>
              <a:off x="6508420" y="2339884"/>
              <a:ext cx="1362954" cy="2569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200" dirty="0">
                  <a:solidFill>
                    <a:schemeClr val="bg2">
                      <a:lumMod val="75000"/>
                    </a:schemeClr>
                  </a:solidFill>
                </a:rPr>
                <a:t>Rolle/erhverv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EE2A98B-A95A-433A-D11D-89D39B3E9ABB}"/>
                </a:ext>
              </a:extLst>
            </p:cNvPr>
            <p:cNvSpPr/>
            <p:nvPr/>
          </p:nvSpPr>
          <p:spPr>
            <a:xfrm>
              <a:off x="6508420" y="4714220"/>
              <a:ext cx="1362954" cy="2569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200" dirty="0">
                  <a:solidFill>
                    <a:schemeClr val="bg2">
                      <a:lumMod val="75000"/>
                    </a:schemeClr>
                  </a:solidFill>
                </a:rPr>
                <a:t>Steder</a:t>
              </a:r>
            </a:p>
          </p:txBody>
        </p:sp>
      </p:grpSp>
      <p:pic>
        <p:nvPicPr>
          <p:cNvPr id="11" name="Picture 10" descr="The image displays a webpage with a list of various art-related categories, including galleries, artists, and museums, each with a number of entries.&#10;&#10;AI-generated content may be incorrect.">
            <a:extLst>
              <a:ext uri="{FF2B5EF4-FFF2-40B4-BE49-F238E27FC236}">
                <a16:creationId xmlns:a16="http://schemas.microsoft.com/office/drawing/2014/main" id="{DEE655FE-0C7B-F510-0820-E2430B9181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9552" y="1020859"/>
            <a:ext cx="3686202" cy="417198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Rectangle: Top Corners One Rounded and One Snipped 3">
            <a:extLst>
              <a:ext uri="{FF2B5EF4-FFF2-40B4-BE49-F238E27FC236}">
                <a16:creationId xmlns:a16="http://schemas.microsoft.com/office/drawing/2014/main" id="{348B7479-3646-98E6-C964-FF81D9151089}"/>
              </a:ext>
            </a:extLst>
          </p:cNvPr>
          <p:cNvSpPr/>
          <p:nvPr/>
        </p:nvSpPr>
        <p:spPr>
          <a:xfrm>
            <a:off x="8706395" y="3266548"/>
            <a:ext cx="3430400" cy="2984943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1200" dirty="0">
                <a:solidFill>
                  <a:schemeClr val="tx1"/>
                </a:solidFill>
              </a:rPr>
              <a:t>Tre centrale filterdimensioner styrer søgningen: Hvornår, samt akserne Hvem / Hvad / Hvor.</a:t>
            </a:r>
          </a:p>
          <a:p>
            <a:endParaRPr lang="da-DK" sz="1200" dirty="0">
              <a:solidFill>
                <a:schemeClr val="tx1"/>
              </a:solidFill>
            </a:endParaRPr>
          </a:p>
          <a:p>
            <a:r>
              <a:rPr lang="da-DK" sz="1200" dirty="0">
                <a:solidFill>
                  <a:schemeClr val="tx1"/>
                </a:solidFill>
              </a:rPr>
              <a:t>Hver dimension foldes ud i detaljer — Hvem/Hvad/Hvor knytter sig til attributter som Nationalitet, Rolle/erhverv og Steder.</a:t>
            </a:r>
          </a:p>
          <a:p>
            <a:endParaRPr lang="da-DK" sz="1200" dirty="0">
              <a:solidFill>
                <a:schemeClr val="tx1"/>
              </a:solidFill>
            </a:endParaRPr>
          </a:p>
          <a:p>
            <a:r>
              <a:rPr lang="da-DK" sz="1200" dirty="0">
                <a:solidFill>
                  <a:schemeClr val="tx1"/>
                </a:solidFill>
              </a:rPr>
              <a:t>Åben tekstsøgning driver filtreringen</a:t>
            </a:r>
          </a:p>
          <a:p>
            <a:r>
              <a:rPr lang="da-DK" sz="1200" dirty="0">
                <a:solidFill>
                  <a:schemeClr val="tx1"/>
                </a:solidFill>
              </a:rPr>
              <a:t> (Åben tekst søgning på filtrer), og resultaterne er tilknyttet målinger (Tilknyttet målinger i resultat).</a:t>
            </a:r>
          </a:p>
        </p:txBody>
      </p:sp>
    </p:spTree>
    <p:extLst>
      <p:ext uri="{BB962C8B-B14F-4D97-AF65-F5344CB8AC3E}">
        <p14:creationId xmlns:p14="http://schemas.microsoft.com/office/powerpoint/2010/main" val="1084876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C5CDF-EF48-4E81-88F7-E087743EC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displays a list of book titles and their associated page numbers, featuring works by authors such as Edvard Collin, Agnete and Havmanden, and historical figures like Carlo Borromeo.&#10;&#10;AI-generated content may be incorrect.">
            <a:extLst>
              <a:ext uri="{FF2B5EF4-FFF2-40B4-BE49-F238E27FC236}">
                <a16:creationId xmlns:a16="http://schemas.microsoft.com/office/drawing/2014/main" id="{2194563A-DBDE-4B7F-0CC1-4DC2EAE5D70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84313" y="161647"/>
            <a:ext cx="2445894" cy="159638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38D7070-918A-2ADE-08A7-4BFE0CEE2B13}"/>
              </a:ext>
            </a:extLst>
          </p:cNvPr>
          <p:cNvSpPr/>
          <p:nvPr/>
        </p:nvSpPr>
        <p:spPr>
          <a:xfrm>
            <a:off x="384313" y="1840407"/>
            <a:ext cx="3983884" cy="33655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Nova" panose="020F0502020204030204" pitchFamily="18" charset="0"/>
                <a:ea typeface="+mn-ea"/>
                <a:cs typeface="+mn-cs"/>
              </a:rPr>
              <a:t>Hvornår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CC85010-F740-0F65-9EEB-F0FAE557E5E2}"/>
              </a:ext>
            </a:extLst>
          </p:cNvPr>
          <p:cNvGrpSpPr/>
          <p:nvPr/>
        </p:nvGrpSpPr>
        <p:grpSpPr>
          <a:xfrm>
            <a:off x="3008820" y="161647"/>
            <a:ext cx="1359377" cy="1596388"/>
            <a:chOff x="384313" y="168197"/>
            <a:chExt cx="1359377" cy="159638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20E7F51-3141-299F-C609-265264B34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FFF7E1">
                  <a:tint val="45000"/>
                  <a:satMod val="400000"/>
                </a:srgbClr>
              </a:duotone>
            </a:blip>
            <a:srcRect r="74062"/>
            <a:stretch>
              <a:fillRect/>
            </a:stretch>
          </p:blipFill>
          <p:spPr>
            <a:xfrm>
              <a:off x="384313" y="168197"/>
              <a:ext cx="629982" cy="159638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779590E-C04E-E688-72FD-7C1F782D3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9CF3FB">
                  <a:tint val="45000"/>
                  <a:satMod val="400000"/>
                </a:srgbClr>
              </a:duotone>
            </a:blip>
            <a:srcRect r="74062"/>
            <a:stretch>
              <a:fillRect/>
            </a:stretch>
          </p:blipFill>
          <p:spPr>
            <a:xfrm>
              <a:off x="1113708" y="168197"/>
              <a:ext cx="629982" cy="159638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F548052-BDCC-F2DC-B8B2-2A25553A7A39}"/>
                </a:ext>
              </a:extLst>
            </p:cNvPr>
            <p:cNvSpPr txBox="1"/>
            <p:nvPr/>
          </p:nvSpPr>
          <p:spPr>
            <a:xfrm rot="16200000">
              <a:off x="207663" y="904634"/>
              <a:ext cx="9639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Hvem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BE0C710-080F-075F-3CB1-C40F22303CAD}"/>
                </a:ext>
              </a:extLst>
            </p:cNvPr>
            <p:cNvSpPr txBox="1"/>
            <p:nvPr/>
          </p:nvSpPr>
          <p:spPr>
            <a:xfrm rot="16200000">
              <a:off x="991019" y="946832"/>
              <a:ext cx="8777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Hvad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3E8D2BC2-4572-DB44-4742-8577D0B3B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53" y="2303114"/>
            <a:ext cx="10016452" cy="444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597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Top Corners One Rounded and One Snipped 3">
            <a:extLst>
              <a:ext uri="{FF2B5EF4-FFF2-40B4-BE49-F238E27FC236}">
                <a16:creationId xmlns:a16="http://schemas.microsoft.com/office/drawing/2014/main" id="{49887206-8AF3-FA60-7524-640BCD89A5B5}"/>
              </a:ext>
            </a:extLst>
          </p:cNvPr>
          <p:cNvSpPr/>
          <p:nvPr/>
        </p:nvSpPr>
        <p:spPr>
          <a:xfrm>
            <a:off x="10498400" y="0"/>
            <a:ext cx="1560074" cy="3769120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1200" dirty="0">
                <a:solidFill>
                  <a:schemeClr val="tx1"/>
                </a:solidFill>
              </a:rPr>
              <a:t>View Gitter og Linje (</a:t>
            </a:r>
            <a:r>
              <a:rPr lang="da-DK" sz="1200" dirty="0" err="1">
                <a:solidFill>
                  <a:schemeClr val="tx1"/>
                </a:solidFill>
              </a:rPr>
              <a:t>record</a:t>
            </a:r>
            <a:r>
              <a:rPr lang="da-DK" sz="1200" dirty="0">
                <a:solidFill>
                  <a:schemeClr val="tx1"/>
                </a:solidFill>
              </a:rPr>
              <a:t>)</a:t>
            </a:r>
          </a:p>
          <a:p>
            <a:r>
              <a:rPr lang="da-DK" sz="1200" dirty="0" err="1">
                <a:solidFill>
                  <a:schemeClr val="tx1"/>
                </a:solidFill>
              </a:rPr>
              <a:t>Export</a:t>
            </a:r>
            <a:r>
              <a:rPr lang="da-DK" sz="1200" dirty="0">
                <a:solidFill>
                  <a:schemeClr val="tx1"/>
                </a:solidFill>
              </a:rPr>
              <a:t> af en model med</a:t>
            </a:r>
          </a:p>
          <a:p>
            <a:r>
              <a:rPr lang="da-DK" sz="1200" dirty="0">
                <a:solidFill>
                  <a:schemeClr val="tx1"/>
                </a:solidFill>
              </a:rPr>
              <a:t>filtrerede resultater</a:t>
            </a:r>
          </a:p>
          <a:p>
            <a:r>
              <a:rPr lang="da-DK" sz="1200" dirty="0">
                <a:solidFill>
                  <a:schemeClr val="tx1"/>
                </a:solidFill>
              </a:rPr>
              <a:t>Join af</a:t>
            </a:r>
          </a:p>
          <a:p>
            <a:r>
              <a:rPr lang="da-DK" sz="1200" dirty="0">
                <a:solidFill>
                  <a:schemeClr val="tx1"/>
                </a:solidFill>
              </a:rPr>
              <a:t>Dagbog, Hvem, Hvad, Hvor, Hvornår</a:t>
            </a:r>
          </a:p>
          <a:p>
            <a:endParaRPr lang="da-DK" sz="1200" dirty="0">
              <a:solidFill>
                <a:schemeClr val="tx1"/>
              </a:solidFill>
            </a:endParaRPr>
          </a:p>
          <a:p>
            <a:r>
              <a:rPr lang="da-DK" sz="1200" dirty="0">
                <a:solidFill>
                  <a:schemeClr val="tx1"/>
                </a:solidFill>
              </a:rPr>
              <a:t>CSV</a:t>
            </a:r>
          </a:p>
          <a:p>
            <a:r>
              <a:rPr lang="da-DK" sz="1200" dirty="0">
                <a:solidFill>
                  <a:schemeClr val="tx1"/>
                </a:solidFill>
              </a:rPr>
              <a:t>Excel</a:t>
            </a:r>
          </a:p>
          <a:p>
            <a:r>
              <a:rPr lang="da-DK" sz="1200" dirty="0">
                <a:solidFill>
                  <a:schemeClr val="tx1"/>
                </a:solidFill>
              </a:rPr>
              <a:t>JSON</a:t>
            </a:r>
          </a:p>
        </p:txBody>
      </p:sp>
      <p:pic>
        <p:nvPicPr>
          <p:cNvPr id="6" name="Picture 5" descr="Hypingst Samtidige Steder.&#10;&#10;AI-generated content may be incorrect.">
            <a:extLst>
              <a:ext uri="{FF2B5EF4-FFF2-40B4-BE49-F238E27FC236}">
                <a16:creationId xmlns:a16="http://schemas.microsoft.com/office/drawing/2014/main" id="{428F6E67-E758-15F0-AFA3-D8D861D88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63" y="498460"/>
            <a:ext cx="6134145" cy="39052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This diagram illustrates a complex data structure representing various entities and their relationships, including dimensions, perimeters, registry titles, locations, and diary entries.&#10;&#10;AI-generated content may be incorrect.">
            <a:extLst>
              <a:ext uri="{FF2B5EF4-FFF2-40B4-BE49-F238E27FC236}">
                <a16:creationId xmlns:a16="http://schemas.microsoft.com/office/drawing/2014/main" id="{967F644D-CC92-EBDA-3DD7-D61BEC9CC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45" y="2844800"/>
            <a:ext cx="5144292" cy="40132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7357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displays a product listing page for various electronic devices, including iPads, docking stations, and USB cables, with some items on sale and others in stock.&#10;&#10;AI-generated content may be incorrect.">
            <a:extLst>
              <a:ext uri="{FF2B5EF4-FFF2-40B4-BE49-F238E27FC236}">
                <a16:creationId xmlns:a16="http://schemas.microsoft.com/office/drawing/2014/main" id="{274ED9D0-5371-FE47-DB2B-C8B041DDF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04" y="203788"/>
            <a:ext cx="4191031" cy="368620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: Top Corners One Rounded and One Snipped 5">
            <a:extLst>
              <a:ext uri="{FF2B5EF4-FFF2-40B4-BE49-F238E27FC236}">
                <a16:creationId xmlns:a16="http://schemas.microsoft.com/office/drawing/2014/main" id="{56050789-CB88-E305-D6E9-D7E2B32C11E4}"/>
              </a:ext>
            </a:extLst>
          </p:cNvPr>
          <p:cNvSpPr/>
          <p:nvPr/>
        </p:nvSpPr>
        <p:spPr>
          <a:xfrm>
            <a:off x="5490222" y="378277"/>
            <a:ext cx="3059944" cy="2011560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1200" dirty="0" err="1">
                <a:solidFill>
                  <a:schemeClr val="tx1"/>
                </a:solidFill>
              </a:rPr>
              <a:t>Web-shop</a:t>
            </a:r>
            <a:r>
              <a:rPr lang="da-DK" sz="1200" dirty="0">
                <a:solidFill>
                  <a:schemeClr val="tx1"/>
                </a:solidFill>
              </a:rPr>
              <a:t> analogi</a:t>
            </a:r>
          </a:p>
          <a:p>
            <a:pPr marL="171450" indent="-171450">
              <a:buFontTx/>
              <a:buChar char="-"/>
            </a:pPr>
            <a:r>
              <a:rPr lang="da-DK" sz="1200" dirty="0">
                <a:solidFill>
                  <a:schemeClr val="tx1"/>
                </a:solidFill>
              </a:rPr>
              <a:t>Dynamiske Hierarkier; Filtrer</a:t>
            </a:r>
          </a:p>
          <a:p>
            <a:pPr marL="171450" indent="-171450">
              <a:buFontTx/>
              <a:buChar char="-"/>
            </a:pPr>
            <a:r>
              <a:rPr lang="da-DK" sz="1200" dirty="0">
                <a:solidFill>
                  <a:schemeClr val="tx1"/>
                </a:solidFill>
              </a:rPr>
              <a:t>Indkøbskurv … download data fra HCA Repository (CSV, Excel, JSON…)</a:t>
            </a:r>
          </a:p>
          <a:p>
            <a:pPr marL="171450" indent="-171450">
              <a:buFontTx/>
              <a:buChar char="-"/>
            </a:pPr>
            <a:r>
              <a:rPr lang="da-DK" sz="1200" dirty="0">
                <a:solidFill>
                  <a:schemeClr val="tx1"/>
                </a:solidFill>
              </a:rPr>
              <a:t>Alle sider i </a:t>
            </a:r>
            <a:r>
              <a:rPr lang="da-DK" sz="1200" dirty="0" err="1">
                <a:solidFill>
                  <a:schemeClr val="tx1"/>
                </a:solidFill>
              </a:rPr>
              <a:t>repository</a:t>
            </a:r>
            <a:r>
              <a:rPr lang="da-DK" sz="1200" dirty="0">
                <a:solidFill>
                  <a:schemeClr val="tx1"/>
                </a:solidFill>
              </a:rPr>
              <a:t> har en Læg-i-indkøbskurv-knap</a:t>
            </a:r>
          </a:p>
          <a:p>
            <a:pPr marL="171450" indent="-171450">
              <a:buFontTx/>
              <a:buChar char="-"/>
            </a:pPr>
            <a:r>
              <a:rPr lang="da-DK" sz="1200" dirty="0">
                <a:solidFill>
                  <a:schemeClr val="tx1"/>
                </a:solidFill>
              </a:rPr>
              <a:t>Andre har også set …</a:t>
            </a:r>
          </a:p>
          <a:p>
            <a:pPr marL="171450" indent="-171450">
              <a:buFontTx/>
              <a:buChar char="-"/>
            </a:pPr>
            <a:r>
              <a:rPr lang="da-DK" sz="1200" dirty="0">
                <a:solidFill>
                  <a:schemeClr val="tx1"/>
                </a:solidFill>
              </a:rPr>
              <a:t>Produktsammenligning</a:t>
            </a:r>
          </a:p>
          <a:p>
            <a:pPr marL="171450" indent="-171450">
              <a:buFontTx/>
              <a:buChar char="-"/>
            </a:pPr>
            <a:r>
              <a:rPr lang="da-DK" sz="1200" dirty="0">
                <a:solidFill>
                  <a:schemeClr val="tx1"/>
                </a:solidFill>
              </a:rPr>
              <a:t>Brugerprofil</a:t>
            </a:r>
          </a:p>
          <a:p>
            <a:pPr marL="171450" indent="-171450">
              <a:buFontTx/>
              <a:buChar char="-"/>
            </a:pPr>
            <a:r>
              <a:rPr lang="da-DK" sz="1200" dirty="0">
                <a:solidFill>
                  <a:schemeClr val="tx1"/>
                </a:solidFill>
              </a:rPr>
              <a:t>Gem søgning</a:t>
            </a:r>
          </a:p>
          <a:p>
            <a:pPr marL="171450" indent="-171450">
              <a:buFontTx/>
              <a:buChar char="-"/>
            </a:pPr>
            <a:endParaRPr lang="da-DK" sz="1200" dirty="0">
              <a:solidFill>
                <a:schemeClr val="tx1"/>
              </a:solidFill>
            </a:endParaRPr>
          </a:p>
        </p:txBody>
      </p:sp>
      <p:pic>
        <p:nvPicPr>
          <p:cNvPr id="8" name="Picture 7" descr="The image displays a product listing for various Apple and Lenovo tablets, including the iPad 11&#10;&#10;AI-generated content may be incorrect.">
            <a:extLst>
              <a:ext uri="{FF2B5EF4-FFF2-40B4-BE49-F238E27FC236}">
                <a16:creationId xmlns:a16="http://schemas.microsoft.com/office/drawing/2014/main" id="{FDE8212F-3E8E-F709-7C98-8909A4E7C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787" y="2669302"/>
            <a:ext cx="4580233" cy="359772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8912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39E3AA7D3ADFB4E9F9B6E7FA7777D9D" ma:contentTypeVersion="6" ma:contentTypeDescription="Opret et nyt dokument." ma:contentTypeScope="" ma:versionID="1d8de3a8a6434cf8dc13c7332e22d238">
  <xsd:schema xmlns:xsd="http://www.w3.org/2001/XMLSchema" xmlns:xs="http://www.w3.org/2001/XMLSchema" xmlns:p="http://schemas.microsoft.com/office/2006/metadata/properties" xmlns:ns2="3c9d1a83-128c-48d2-a985-b0c978b72dd4" targetNamespace="http://schemas.microsoft.com/office/2006/metadata/properties" ma:root="true" ma:fieldsID="c11a74d878a3d3ca33e4f2f469177b8e" ns2:_="">
    <xsd:import namespace="3c9d1a83-128c-48d2-a985-b0c978b72d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SemantiskModel" minOccurs="0"/>
                <xsd:element ref="ns2:Note" minOccurs="0"/>
                <xsd:element ref="ns2:Description_x002d_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9d1a83-128c-48d2-a985-b0c978b72d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emantiskModel" ma:index="11" nillable="true" ma:displayName="Semantisk Model" ma:format="Dropdown" ma:internalName="SemantiskModel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Registry"/>
                        <xsd:enumeration value="Person"/>
                        <xsd:enumeration value="Work"/>
                        <xsd:enumeration value="Location"/>
                        <xsd:enumeration value="Diary"/>
                        <xsd:enumeration value="Calendar"/>
                        <xsd:enumeration value="Planning"/>
                        <xsd:enumeration value="Repository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Note" ma:index="12" nillable="true" ma:displayName="Note" ma:description="Kort beskrivelse af ændring i dokument." ma:format="Dropdown" ma:internalName="Note">
      <xsd:simpleType>
        <xsd:restriction base="dms:Text">
          <xsd:maxLength value="255"/>
        </xsd:restriction>
      </xsd:simpleType>
    </xsd:element>
    <xsd:element name="Description_x002d_Status" ma:index="13" nillable="true" ma:displayName="Description - Status" ma:description="Kort beskrivelse af ændringer i uploaded dokument." ma:format="Dropdown" ma:internalName="Description_x002d_Status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mantiskModel xmlns="3c9d1a83-128c-48d2-a985-b0c978b72dd4" xsi:nil="true"/>
    <Description_x002d_Status xmlns="3c9d1a83-128c-48d2-a985-b0c978b72dd4" xsi:nil="true"/>
    <Note xmlns="3c9d1a83-128c-48d2-a985-b0c978b72dd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DC6AFB-100A-4ED1-A988-71796EA3403C}"/>
</file>

<file path=customXml/itemProps2.xml><?xml version="1.0" encoding="utf-8"?>
<ds:datastoreItem xmlns:ds="http://schemas.openxmlformats.org/officeDocument/2006/customXml" ds:itemID="{BBD9421D-FB4D-4CCD-9348-F689DCB5B7C9}">
  <ds:schemaRefs>
    <ds:schemaRef ds:uri="http://schemas.microsoft.com/office/2006/metadata/properties"/>
    <ds:schemaRef ds:uri="http://schemas.microsoft.com/office/infopath/2007/PartnerControls"/>
    <ds:schemaRef ds:uri="3c9d1a83-128c-48d2-a985-b0c978b72dd4"/>
  </ds:schemaRefs>
</ds:datastoreItem>
</file>

<file path=customXml/itemProps3.xml><?xml version="1.0" encoding="utf-8"?>
<ds:datastoreItem xmlns:ds="http://schemas.openxmlformats.org/officeDocument/2006/customXml" ds:itemID="{20ECDF8A-C562-4F00-BA58-A2003123C2E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5358</TotalTime>
  <Words>310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Rockwell Nova</vt:lpstr>
      <vt:lpstr>Office Theme</vt:lpstr>
      <vt:lpstr>Noter til MockUp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 Lebech</dc:creator>
  <cp:lastModifiedBy>Holger Berg</cp:lastModifiedBy>
  <cp:revision>5</cp:revision>
  <dcterms:created xsi:type="dcterms:W3CDTF">2026-02-11T10:12:49Z</dcterms:created>
  <dcterms:modified xsi:type="dcterms:W3CDTF">2026-06-19T06:29:59Z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0x010100039E3AA7D3ADFB4E9F9B6E7FA7777D9D</vt:lpwstr>
  </property>
</Properties>
</file>